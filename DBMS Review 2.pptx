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85" r:id="rId5"/>
    <p:sldId id="301" r:id="rId6"/>
    <p:sldId id="284" r:id="rId7"/>
    <p:sldId id="288" r:id="rId8"/>
    <p:sldId id="287" r:id="rId9"/>
    <p:sldId id="300" r:id="rId10"/>
    <p:sldId id="292" r:id="rId11"/>
    <p:sldId id="293" r:id="rId12"/>
    <p:sldId id="294" r:id="rId13"/>
    <p:sldId id="295" r:id="rId14"/>
    <p:sldId id="296" r:id="rId15"/>
    <p:sldId id="299" r:id="rId16"/>
    <p:sldId id="297" r:id="rId17"/>
    <p:sldId id="268" r:id="rId18"/>
    <p:sldId id="269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DE859D-93CA-486C-936A-BAD1DBB9A993}" v="23" dt="2026-09-21T17:02:45.3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80232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spcBef>
                <a:spcPts val="130"/>
              </a:spcBef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25B11AI071 - </a:t>
            </a:r>
            <a:r>
              <a:rPr lang="en-IN" sz="165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A.V.S.Supritha</a:t>
            </a: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25B11AI370 - </a:t>
            </a:r>
            <a:r>
              <a:rPr lang="en-IN" sz="165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G.V.V.Ramana</a:t>
            </a: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25B11AI535 - </a:t>
            </a:r>
            <a:r>
              <a:rPr lang="en-IN" sz="165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K.Anushka</a:t>
            </a: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16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25B11AIA38 - </a:t>
            </a:r>
            <a:r>
              <a:rPr lang="en-IN" sz="165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R.Navya</a:t>
            </a: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454071" y="1216578"/>
            <a:ext cx="9372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Management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records of books.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member information.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book issue and return transactions.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quick information about book availability.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librarian, author, category, and publisher details.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data-entry errors.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data consistency using primary and foreign keys.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library systems may face several problems: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records manually is time-consuming.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particular book can take more time.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availability is difficult to track.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and return records may be lost or duplicated.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overdue books becomes difficult.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large numbers of member records is difficult.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85801" y="1283319"/>
            <a:ext cx="3886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1.Book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Primary Key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ISBN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Publication_Year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Copies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Foreign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Foreign Key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2.Member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Primary Key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Join_Date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4E71D-3A63-A82F-D532-06818CB2AF42}"/>
              </a:ext>
            </a:extLst>
          </p:cNvPr>
          <p:cNvSpPr txBox="1"/>
          <p:nvPr/>
        </p:nvSpPr>
        <p:spPr>
          <a:xfrm>
            <a:off x="5791200" y="1283319"/>
            <a:ext cx="38862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3.Librarian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Primary Key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4.Author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Primary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Author_Name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5.Category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Primary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Category_Name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592F0827-B9DB-1725-F4E7-7FF687A8B650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30B9E5B-745F-05C5-45E5-F4E6169EEE2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9BE37B29-0E25-5218-36F4-1C7956D245F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59066B72-CCEC-8C0D-21BE-3639A2DDAB5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37BE7F0D-561A-387F-39D8-FCF9C7AE16DB}"/>
                </a:ext>
              </a:extLst>
            </p:cNvPr>
            <p:cNvSpPr/>
            <p:nvPr/>
          </p:nvSpPr>
          <p:spPr>
            <a:xfrm>
              <a:off x="2883931" y="282892"/>
              <a:ext cx="4530262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  </a:t>
              </a:r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ENTITIES &amp; ATTRIBUTES</a:t>
              </a:r>
            </a:p>
            <a:p>
              <a:endParaRPr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376B95E-B7E4-50BA-6679-901D9A7405D4}"/>
              </a:ext>
            </a:extLst>
          </p:cNvPr>
          <p:cNvSpPr txBox="1"/>
          <p:nvPr/>
        </p:nvSpPr>
        <p:spPr>
          <a:xfrm>
            <a:off x="685800" y="1216578"/>
            <a:ext cx="3733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6.Publisher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Primary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7.Loan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Primary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Foreign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Foreign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Foreign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Issue_Date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Due_Date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Return_Date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D7AA4-8E0F-D7DC-9928-01E25704178E}"/>
              </a:ext>
            </a:extLst>
          </p:cNvPr>
          <p:cNvSpPr txBox="1"/>
          <p:nvPr/>
        </p:nvSpPr>
        <p:spPr>
          <a:xfrm>
            <a:off x="5638800" y="2569367"/>
            <a:ext cx="3733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8.Book_Author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Foreign Key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Foreign Key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 Primary Key: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84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0669E2-AFA1-BCEF-BC52-712F9143D8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7" y="1296590"/>
            <a:ext cx="9901286" cy="572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976EED-9193-0AF5-0F91-1D9206050D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351908"/>
            <a:ext cx="9108474" cy="565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E2F94-6AD4-B724-E3FB-997227B0055D}"/>
              </a:ext>
            </a:extLst>
          </p:cNvPr>
          <p:cNvSpPr txBox="1"/>
          <p:nvPr/>
        </p:nvSpPr>
        <p:spPr>
          <a:xfrm>
            <a:off x="570752" y="1216578"/>
            <a:ext cx="50292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1.Book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2.Memeber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3.Librarian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4.Author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5.Category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0B238-DA5D-2DD9-2CF8-F321027FDDCA}"/>
              </a:ext>
            </a:extLst>
          </p:cNvPr>
          <p:cNvSpPr txBox="1"/>
          <p:nvPr/>
        </p:nvSpPr>
        <p:spPr>
          <a:xfrm>
            <a:off x="5943600" y="1216578"/>
            <a:ext cx="3429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6.Publisher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Publisher_ID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7.Loan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Librarian_ID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8.Book_Author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FK: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638300" y="1324669"/>
            <a:ext cx="67818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25B11AI071 –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A.V.S.Supritha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25B11AI370 –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G.V.V.Ramana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25B11AI535 –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K.Anushka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25B11AIA38 –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R.Navya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Responsibilities: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&amp; Database Design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Presentation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contains: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Diagram,Relational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Schema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Scripts,Sample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Data,SQL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Queries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Documentation,Screenshots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Results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D9B54-DF16-DF3B-35CE-FB3B7049100F}"/>
              </a:ext>
            </a:extLst>
          </p:cNvPr>
          <p:cNvSpPr txBox="1"/>
          <p:nvPr/>
        </p:nvSpPr>
        <p:spPr>
          <a:xfrm>
            <a:off x="1561171" y="1460810"/>
            <a:ext cx="620973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Database creation</a:t>
            </a:r>
            <a:r>
              <a:rPr lang="en-IN" dirty="0"/>
              <a:t>:</a:t>
            </a:r>
          </a:p>
          <a:p>
            <a:r>
              <a:rPr lang="en-IN" dirty="0"/>
              <a:t>CREATE DATABASE </a:t>
            </a:r>
            <a:r>
              <a:rPr lang="en-IN" dirty="0" err="1"/>
              <a:t>LibraryDB</a:t>
            </a:r>
            <a:r>
              <a:rPr lang="en-IN" dirty="0"/>
              <a:t>;</a:t>
            </a:r>
          </a:p>
          <a:p>
            <a:r>
              <a:rPr lang="en-IN" dirty="0"/>
              <a:t>USE </a:t>
            </a:r>
            <a:r>
              <a:rPr lang="en-IN" dirty="0" err="1"/>
              <a:t>LibraryDB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sz="2000" dirty="0">
                <a:solidFill>
                  <a:srgbClr val="FF0000"/>
                </a:solidFill>
              </a:rPr>
              <a:t>Important constraints</a:t>
            </a:r>
            <a:r>
              <a:rPr lang="en-IN" dirty="0"/>
              <a:t>:</a:t>
            </a:r>
          </a:p>
          <a:p>
            <a:endParaRPr lang="en-IN" dirty="0"/>
          </a:p>
          <a:p>
            <a:r>
              <a:rPr lang="en-IN" dirty="0"/>
              <a:t>NOT NULL – required values</a:t>
            </a:r>
          </a:p>
          <a:p>
            <a:r>
              <a:rPr lang="en-IN" dirty="0"/>
              <a:t>UNIQUE – prevents duplicate ISBN/email</a:t>
            </a:r>
          </a:p>
          <a:p>
            <a:r>
              <a:rPr lang="en-IN" dirty="0"/>
              <a:t>CHECK – validates values such as Copies &gt;= 0</a:t>
            </a:r>
          </a:p>
          <a:p>
            <a:r>
              <a:rPr lang="en-IN" dirty="0"/>
              <a:t>DEFAULT – supplies automatic values</a:t>
            </a:r>
          </a:p>
          <a:p>
            <a:endParaRPr lang="en-IN" dirty="0"/>
          </a:p>
          <a:p>
            <a:r>
              <a:rPr lang="en-IN" sz="2400" dirty="0"/>
              <a:t>Example</a:t>
            </a:r>
            <a:r>
              <a:rPr lang="en-IN" dirty="0"/>
              <a:t>:</a:t>
            </a:r>
          </a:p>
          <a:p>
            <a:r>
              <a:rPr lang="en-IN" dirty="0"/>
              <a:t>Copies INT NOT NULL CHECK (Copies &gt;= 0)</a:t>
            </a:r>
          </a:p>
          <a:p>
            <a:r>
              <a:rPr lang="en-IN" dirty="0"/>
              <a:t>ISBN VARCHAR(20) UNIQUE</a:t>
            </a:r>
          </a:p>
          <a:p>
            <a:r>
              <a:rPr lang="en-IN" dirty="0" err="1"/>
              <a:t>Member_Name</a:t>
            </a:r>
            <a:r>
              <a:rPr lang="en-IN" dirty="0"/>
              <a:t> VARCHAR(100) NOT NULL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BC8DB-C822-C532-7602-0C80D5D56B53}"/>
              </a:ext>
            </a:extLst>
          </p:cNvPr>
          <p:cNvSpPr txBox="1"/>
          <p:nvPr/>
        </p:nvSpPr>
        <p:spPr>
          <a:xfrm>
            <a:off x="685800" y="1452894"/>
            <a:ext cx="68580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Sample records used to test the system: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BOOK</a:t>
            </a:r>
            <a:r>
              <a:rPr lang="en-IN" dirty="0"/>
              <a:t>:</a:t>
            </a:r>
          </a:p>
          <a:p>
            <a:r>
              <a:rPr lang="en-IN" dirty="0"/>
              <a:t>101 | DBMS Fundamentals | 978001 | 2024 | 5 | 1 | 1</a:t>
            </a:r>
          </a:p>
          <a:p>
            <a:r>
              <a:rPr lang="en-IN" dirty="0"/>
              <a:t>102 | Python Basics | 978002 | 2023 | 3 | 2 | 1</a:t>
            </a:r>
          </a:p>
          <a:p>
            <a:r>
              <a:rPr lang="en-IN" dirty="0"/>
              <a:t>103 | AI Essentials | 978003 | 2025 | 2 | 3 | 2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MEMBER:</a:t>
            </a:r>
          </a:p>
          <a:p>
            <a:r>
              <a:rPr lang="en-IN" dirty="0"/>
              <a:t>201 | Anu | 9876543210 | anu@mail.com | Hyderabad | 2026-08-01</a:t>
            </a:r>
          </a:p>
          <a:p>
            <a:r>
              <a:rPr lang="en-IN" dirty="0"/>
              <a:t>202 | Ravi | 9876501234 | ravi@mail.com | Vijayawada | 2026-08-05</a:t>
            </a:r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LOAN</a:t>
            </a:r>
            <a:r>
              <a:rPr lang="en-IN" dirty="0"/>
              <a:t>:</a:t>
            </a:r>
          </a:p>
          <a:p>
            <a:r>
              <a:rPr lang="en-IN" dirty="0"/>
              <a:t>301 | 101 | 201 | 401 | 2026-09-01 | 2026-09-15 | NULL</a:t>
            </a:r>
          </a:p>
          <a:p>
            <a:r>
              <a:rPr lang="en-IN" dirty="0"/>
              <a:t>These records demonstrate INSERT, SELECT, JOIN, UPDATE and validation operations.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219200" y="1409484"/>
            <a:ext cx="67818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 – Data Definition Language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– Data Manipulation Language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DQL – Data Query Language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operations can be performed on the Library Management System database.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889569" y="1216578"/>
            <a:ext cx="38089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CRUD Operations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books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members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loan records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members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book availability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loan records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book information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member information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loan details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76BBE-AC05-74FD-8C03-61D9E0604AFE}"/>
              </a:ext>
            </a:extLst>
          </p:cNvPr>
          <p:cNvSpPr txBox="1"/>
          <p:nvPr/>
        </p:nvSpPr>
        <p:spPr>
          <a:xfrm>
            <a:off x="5604755" y="2057400"/>
            <a:ext cx="36565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records when required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queries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queries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IN" sz="2400" dirty="0"/>
              <a:t>queries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52600" y="1808708"/>
            <a:ext cx="6781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uniquely identify records.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maintain relationships between tables.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BOOK_AUTHOR uses a composite primary key.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NULL can be used for required fields.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can prevent duplicate values.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can validate values.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can provide default values.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dates should be properly validated.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design uses primary and foreign keys to maintain consistency.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15176" y="1255869"/>
            <a:ext cx="7161304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 should contain:  </a:t>
            </a:r>
          </a:p>
          <a:p>
            <a:endParaRPr lang="en-US" sz="3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title, objectives and problem statement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and attribute list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schema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Primary/foreign key mapping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and constraint SQL 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INSERT statements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CRUD, JOIN and aggregate queries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of successful execution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results and validation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responsibilities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5F0E5-7E6A-3ED9-4C24-C662F940E90C}"/>
              </a:ext>
            </a:extLst>
          </p:cNvPr>
          <p:cNvSpPr txBox="1"/>
          <p:nvPr/>
        </p:nvSpPr>
        <p:spPr>
          <a:xfrm>
            <a:off x="1453752" y="2057400"/>
            <a:ext cx="654724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Demonstration sequence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Open MySQL/DBMS environment.</a:t>
            </a:r>
          </a:p>
          <a:p>
            <a:r>
              <a:rPr lang="en-US" dirty="0"/>
              <a:t>Create and select </a:t>
            </a:r>
            <a:r>
              <a:rPr lang="en-US" dirty="0" err="1"/>
              <a:t>LibraryDB</a:t>
            </a:r>
            <a:r>
              <a:rPr lang="en-US" dirty="0"/>
              <a:t>.</a:t>
            </a:r>
          </a:p>
          <a:p>
            <a:r>
              <a:rPr lang="en-US" dirty="0"/>
              <a:t>Show all eight tables.</a:t>
            </a:r>
          </a:p>
          <a:p>
            <a:r>
              <a:rPr lang="en-US" dirty="0"/>
              <a:t>Display sample records using SELECT.</a:t>
            </a:r>
          </a:p>
          <a:p>
            <a:endParaRPr lang="en-US" dirty="0"/>
          </a:p>
          <a:p>
            <a:r>
              <a:rPr lang="en-US" dirty="0"/>
              <a:t>Demonstrate adding/updating a book.</a:t>
            </a:r>
          </a:p>
          <a:p>
            <a:endParaRPr lang="en-US" dirty="0"/>
          </a:p>
          <a:p>
            <a:r>
              <a:rPr lang="en-US" dirty="0"/>
              <a:t>Demonstrate a JOIN query for loan details.</a:t>
            </a:r>
          </a:p>
          <a:p>
            <a:endParaRPr lang="en-US" dirty="0"/>
          </a:p>
          <a:p>
            <a:r>
              <a:rPr lang="en-US" dirty="0"/>
              <a:t>Show book availability and overdue information.</a:t>
            </a:r>
          </a:p>
          <a:p>
            <a:r>
              <a:rPr lang="en-US" dirty="0"/>
              <a:t>Demonstrate a constraint by attempting invalid data.</a:t>
            </a:r>
          </a:p>
          <a:p>
            <a:endParaRPr lang="en-US" dirty="0"/>
          </a:p>
          <a:p>
            <a:r>
              <a:rPr lang="en-US" dirty="0"/>
              <a:t>Explain ER diagram, keys and relationships.</a:t>
            </a:r>
          </a:p>
          <a:p>
            <a:r>
              <a:rPr lang="en-US" dirty="0"/>
              <a:t>Present conclusion and future enhancements.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872251" y="1423788"/>
            <a:ext cx="85748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Management System organizes books, members, staff, authors, categories, publishers and loans in related tables.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and foreign keys maintain relationships and data consistency.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improve data integrity and validation.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operations support creating, inserting, reading, updating and deleting records.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and aggregate queries provide useful library information.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calculation for overdue books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reservation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and role-based access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Barcode/QR-based issue and return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Email/SMS due-date reminders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and dashboard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2676</TotalTime>
  <Words>1177</Words>
  <Application>Microsoft Office PowerPoint</Application>
  <PresentationFormat>Custom</PresentationFormat>
  <Paragraphs>280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Cambria</vt:lpstr>
      <vt:lpstr>Palatino Linotype</vt:lpstr>
      <vt:lpstr>Times New Roman</vt:lpstr>
      <vt:lpstr>Wingdings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Supritha Atru</cp:lastModifiedBy>
  <cp:revision>52</cp:revision>
  <cp:lastPrinted>2025-10-14T18:21:49Z</cp:lastPrinted>
  <dcterms:created xsi:type="dcterms:W3CDTF">2025-10-10T08:28:06Z</dcterms:created>
  <dcterms:modified xsi:type="dcterms:W3CDTF">2026-09-28T02:38:10Z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